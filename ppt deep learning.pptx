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n-ID" sz="1400" b="0" i="0" u="none" strike="noStrike">
                <a:solidFill>
                  <a:srgbClr val="2B2B2B"/>
                </a:solidFill>
                <a:latin typeface="Arial"/>
              </a:rPr>
              <a:t>Test Accuracy per Skenario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0.7833</c:v>
                </c:pt>
                <c:pt idx="1">
                  <c:v>0.81669999999999998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9F-4369-887D-67C4ABF85C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sv-SE" sz="1400" b="0" i="0" u="none" strike="noStrike">
                <a:solidFill>
                  <a:srgbClr val="2B2B2B"/>
                </a:solidFill>
                <a:latin typeface="Arial"/>
              </a:rPr>
              <a:t>Waktu Training per Skenario (detik)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Waktu Training (detik)</c:v>
                </c:pt>
              </c:strCache>
            </c:strRef>
          </c:tx>
          <c:spPr>
            <a:solidFill>
              <a:srgbClr val="A430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53.67</c:v>
                </c:pt>
                <c:pt idx="1">
                  <c:v>83.5</c:v>
                </c:pt>
                <c:pt idx="2">
                  <c:v>45.82</c:v>
                </c:pt>
                <c:pt idx="3">
                  <c:v>101.48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EA-4889-9A08-1FCB2AA5D1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95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25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04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KLASIFIKASI PENYAKIT DAUN ANGGUR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4 Skenario Eksperimen pada MobileNetV2:</a:t>
            </a:r>
            <a:endParaRPr lang="en-US" sz="17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Pengaruh Bobot Pretrained &amp; Augmentasi 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A43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943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Deep Learning — Klasifikasi Citra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4 Orang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6035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657600" cy="3657600"/>
          </a:xfrm>
          <a:prstGeom prst="ellipse">
            <a:avLst/>
          </a:prstGeom>
          <a:solidFill>
            <a:srgbClr val="97BC62">
              <a:alpha val="3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943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Deep Learning —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Citra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537D7D6-BFF9-409A-B6CB-CEC138BC6DDC}"/>
              </a:ext>
            </a:extLst>
          </p:cNvPr>
          <p:cNvSpPr/>
          <p:nvPr/>
        </p:nvSpPr>
        <p:spPr>
          <a:xfrm>
            <a:off x="1143000" y="1746504"/>
            <a:ext cx="6042804" cy="700810"/>
          </a:xfrm>
          <a:prstGeom prst="roundRect">
            <a:avLst>
              <a:gd name="adj" fmla="val 11765"/>
            </a:avLst>
          </a:prstGeom>
          <a:solidFill>
            <a:srgbClr val="2C5F2D">
              <a:alpha val="70000"/>
            </a:srgbClr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56FB9B0C-E1E3-491C-8A37-50C17A272E5D}"/>
              </a:ext>
            </a:extLst>
          </p:cNvPr>
          <p:cNvSpPr/>
          <p:nvPr/>
        </p:nvSpPr>
        <p:spPr>
          <a:xfrm>
            <a:off x="1280159" y="1874520"/>
            <a:ext cx="464831" cy="41224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EBA04F7-0FDB-400F-A0DA-149826913366}"/>
              </a:ext>
            </a:extLst>
          </p:cNvPr>
          <p:cNvSpPr txBox="1"/>
          <p:nvPr/>
        </p:nvSpPr>
        <p:spPr>
          <a:xfrm>
            <a:off x="1280159" y="1874520"/>
            <a:ext cx="464831" cy="41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A1D4474-E3D0-4B20-B666-B2FC977FEFFE}"/>
              </a:ext>
            </a:extLst>
          </p:cNvPr>
          <p:cNvSpPr txBox="1"/>
          <p:nvPr/>
        </p:nvSpPr>
        <p:spPr>
          <a:xfrm>
            <a:off x="1783079" y="1746504"/>
            <a:ext cx="5113141" cy="700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Aminuddin</a:t>
            </a: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Marhan</a:t>
            </a:r>
            <a:r>
              <a:rPr lang="id-ID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240441100018</a:t>
            </a:r>
            <a:r>
              <a:rPr lang="id-ID" dirty="0">
                <a:solidFill>
                  <a:srgbClr val="FFFFFF"/>
                </a:solidFill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D99BCA9-E47B-4DD4-8D6B-452A45D3FD9F}"/>
              </a:ext>
            </a:extLst>
          </p:cNvPr>
          <p:cNvSpPr/>
          <p:nvPr/>
        </p:nvSpPr>
        <p:spPr>
          <a:xfrm>
            <a:off x="1143000" y="2523744"/>
            <a:ext cx="6042804" cy="700810"/>
          </a:xfrm>
          <a:prstGeom prst="roundRect">
            <a:avLst>
              <a:gd name="adj" fmla="val 11765"/>
            </a:avLst>
          </a:prstGeom>
          <a:solidFill>
            <a:srgbClr val="2C5F2D">
              <a:alpha val="7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D6930BFA-E538-4EEA-B158-958FEB201A1D}"/>
              </a:ext>
            </a:extLst>
          </p:cNvPr>
          <p:cNvSpPr/>
          <p:nvPr/>
        </p:nvSpPr>
        <p:spPr>
          <a:xfrm>
            <a:off x="1280159" y="2651760"/>
            <a:ext cx="464831" cy="41224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A8BF177-9C17-4579-910B-BA753420C1BD}"/>
              </a:ext>
            </a:extLst>
          </p:cNvPr>
          <p:cNvSpPr txBox="1"/>
          <p:nvPr/>
        </p:nvSpPr>
        <p:spPr>
          <a:xfrm>
            <a:off x="1280159" y="2651760"/>
            <a:ext cx="464831" cy="41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A80E4F9-091C-4C4E-BA7F-959AC3A6121D}"/>
              </a:ext>
            </a:extLst>
          </p:cNvPr>
          <p:cNvSpPr txBox="1"/>
          <p:nvPr/>
        </p:nvSpPr>
        <p:spPr>
          <a:xfrm>
            <a:off x="1783079" y="2523744"/>
            <a:ext cx="5113141" cy="700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Sahrul 		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240441100058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EC6EE0EC-DEBB-4F9F-83AE-0FF52F2F98D2}"/>
              </a:ext>
            </a:extLst>
          </p:cNvPr>
          <p:cNvSpPr/>
          <p:nvPr/>
        </p:nvSpPr>
        <p:spPr>
          <a:xfrm>
            <a:off x="1143000" y="3300984"/>
            <a:ext cx="6042804" cy="700810"/>
          </a:xfrm>
          <a:prstGeom prst="roundRect">
            <a:avLst>
              <a:gd name="adj" fmla="val 11765"/>
            </a:avLst>
          </a:prstGeom>
          <a:solidFill>
            <a:srgbClr val="2C5F2D">
              <a:alpha val="70000"/>
            </a:srgbClr>
          </a:solidFill>
          <a:ln/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15A12B67-4C25-4651-8342-89F9C0A71C10}"/>
              </a:ext>
            </a:extLst>
          </p:cNvPr>
          <p:cNvSpPr/>
          <p:nvPr/>
        </p:nvSpPr>
        <p:spPr>
          <a:xfrm>
            <a:off x="1280159" y="3429000"/>
            <a:ext cx="464831" cy="41224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6D32D8B-64A3-4AE0-8504-0C68A3FE02B7}"/>
              </a:ext>
            </a:extLst>
          </p:cNvPr>
          <p:cNvSpPr txBox="1"/>
          <p:nvPr/>
        </p:nvSpPr>
        <p:spPr>
          <a:xfrm>
            <a:off x="1280159" y="3429000"/>
            <a:ext cx="464831" cy="41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F69E8552-0307-440C-8418-BDF930C093A5}"/>
              </a:ext>
            </a:extLst>
          </p:cNvPr>
          <p:cNvSpPr txBox="1"/>
          <p:nvPr/>
        </p:nvSpPr>
        <p:spPr>
          <a:xfrm>
            <a:off x="1783079" y="3300984"/>
            <a:ext cx="5113141" cy="700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Moh. Fadil	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</a:t>
            </a:r>
            <a:r>
              <a:rPr lang="id-ID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240441100072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61FC34BE-A9BC-474F-8720-924F92F2C6E5}"/>
              </a:ext>
            </a:extLst>
          </p:cNvPr>
          <p:cNvSpPr/>
          <p:nvPr/>
        </p:nvSpPr>
        <p:spPr>
          <a:xfrm>
            <a:off x="1143000" y="4078224"/>
            <a:ext cx="6042804" cy="700810"/>
          </a:xfrm>
          <a:prstGeom prst="roundRect">
            <a:avLst>
              <a:gd name="adj" fmla="val 11765"/>
            </a:avLst>
          </a:prstGeom>
          <a:solidFill>
            <a:srgbClr val="2C5F2D">
              <a:alpha val="70000"/>
            </a:srgbClr>
          </a:solidFill>
          <a:ln/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821AA5E-58CC-43D2-A395-5A4CD25097FC}"/>
              </a:ext>
            </a:extLst>
          </p:cNvPr>
          <p:cNvSpPr/>
          <p:nvPr/>
        </p:nvSpPr>
        <p:spPr>
          <a:xfrm>
            <a:off x="1280159" y="4206240"/>
            <a:ext cx="464831" cy="41224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58A6371-C63E-4D8F-A485-5D7C4043C1A8}"/>
              </a:ext>
            </a:extLst>
          </p:cNvPr>
          <p:cNvSpPr txBox="1"/>
          <p:nvPr/>
        </p:nvSpPr>
        <p:spPr>
          <a:xfrm>
            <a:off x="1280159" y="4206240"/>
            <a:ext cx="464831" cy="41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4B47BF0A-6B19-4C6D-BD5A-634E7E9C6B03}"/>
              </a:ext>
            </a:extLst>
          </p:cNvPr>
          <p:cNvSpPr txBox="1"/>
          <p:nvPr/>
        </p:nvSpPr>
        <p:spPr>
          <a:xfrm>
            <a:off x="1783079" y="4078224"/>
            <a:ext cx="5113141" cy="700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Alief Noor </a:t>
            </a:r>
            <a:r>
              <a:rPr lang="en-US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Aliansyah</a:t>
            </a:r>
            <a:r>
              <a:rPr lang="id-ID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240441100130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4BD1AD-2675-4235-85A8-7B5639CB80E9}"/>
              </a:ext>
            </a:extLst>
          </p:cNvPr>
          <p:cNvSpPr txBox="1"/>
          <p:nvPr/>
        </p:nvSpPr>
        <p:spPr>
          <a:xfrm>
            <a:off x="1143000" y="755094"/>
            <a:ext cx="8839919" cy="620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4400"/>
              </a:lnSpc>
              <a:buNone/>
            </a:pPr>
            <a:r>
              <a:rPr lang="id-ID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Anggota Kelompok 3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463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972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Tanaman anggur rentan terhadap berbagai penyakit daun  </a:t>
            </a:r>
            <a:r>
              <a:rPr lang="en-US" sz="13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seperti Black Rot, Esca (Black Measles), dan Leaf Blight, yang dapat menurunkan kualitas dan hasil panen secara signifikan jika tidak terdeteksi sejak dini.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5915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manual oleh petani membutuhkan keahlian khusus  </a:t>
            </a:r>
            <a:r>
              <a:rPr lang="en-US" sz="13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rentan terhadap kesalahan identifikasi, terutama pada gejala penyakit yang mirip secara visual satu sama lain.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621024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menawarkan solusi deteksi otomatis  </a:t>
            </a:r>
            <a:r>
              <a:rPr lang="en-US" sz="13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klasifikasi citra, yang dapat membantu diagnosis penyakit tanaman secara cepat, konsisten, dan dapat diakses lebih luas (misalnya lewat aplikasi mobile).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974336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882896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menjadi pendekatan populer  </a:t>
            </a:r>
            <a:r>
              <a:rPr lang="en-US" sz="13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kasus dataset terbatas, karena memanfaatkan fitur visual yang sudah dipelajari dari jutaan gambar (ImageNet) sebagai titik awal.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2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1938528"/>
            <a:ext cx="91440" cy="91440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80136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penggunaan bobot pretrained ImageNet meningkatkan akurasi klasifikasi dibanding bobot random pada dataset citra daun anggur yang terbatas?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172968"/>
            <a:ext cx="91440" cy="91440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03580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augmentasi data memberikan pengaruh signifikan terhadap performa model, baik pada bobot random maupun pretrained?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407408"/>
            <a:ext cx="91440" cy="91440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27024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kombinasi mana yang memberikan performa terbaik dengan biaya komputasi yang efisien?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5440680" cy="5029200"/>
          </a:xfrm>
          <a:prstGeom prst="roundRect">
            <a:avLst>
              <a:gd name="adj" fmla="val 2182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Penelitian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92240" y="1938528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180136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Melatih model MobileNetV2 dalam 4 skenario yang memvariasikan 2 faktor: bobot awal dan augmentasi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2944368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280720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akurasi, precision, recall, F1-score, dan waktu training dari keempat skenario secara adil (kondisi identik).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3950208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8130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dan menganalisis efek masing-masing faktor (augmentasi vs pretraining) terhadap performa model.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4956048"/>
            <a:ext cx="91440" cy="914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481888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Merekomendasikan skenario terbaik berdasarkan performa dan efisiensi komputasi.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(subset tanaman anggur / grape) — 4 kelas, masing-masing 200 citra daun (total 800 citra), dengan label yang sudah tersedia untuk setiap kelas.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2F4F0"/>
          </a:solidFill>
          <a:ln/>
        </p:spPr>
      </p:sp>
      <p:pic>
        <p:nvPicPr>
          <p:cNvPr id="6" name="Image 0" descr="/home/claude/ppt/assets/leaf_blackr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65960"/>
            <a:ext cx="2011680" cy="2011680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— Black Rot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Bercak coklat kemerahan dengan tepi gelap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577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foto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01568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2F4F0"/>
          </a:solidFill>
          <a:ln/>
        </p:spPr>
      </p:sp>
      <p:pic>
        <p:nvPicPr>
          <p:cNvPr id="11" name="Image 1" descr="/home/claude/ppt/assets/leaf_esc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1965960"/>
            <a:ext cx="2011680" cy="2011680"/>
          </a:xfrm>
          <a:prstGeom prst="ellipse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38728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— Esca (Black Measles)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538728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Garis-garis coklat memanjang pada permukaan daun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5577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foto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08776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2F4F0"/>
          </a:solidFill>
          <a:ln/>
        </p:spPr>
      </p:sp>
      <p:pic>
        <p:nvPicPr>
          <p:cNvPr id="16" name="Image 2" descr="/home/claude/ppt/assets/leaf_bligh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965960"/>
            <a:ext cx="2011680" cy="2011680"/>
          </a:xfrm>
          <a:prstGeom prst="ellipse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45936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— Leaf Blight (Isariopsis)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6345936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Bercak gelap dengan area menguning/mengering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345936" y="5577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foto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15984" y="178308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2F4F0"/>
          </a:solidFill>
          <a:ln/>
        </p:spPr>
      </p:sp>
      <p:pic>
        <p:nvPicPr>
          <p:cNvPr id="21" name="Image 3" descr="/home/claude/ppt/assets/leaf_health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3164" y="1965960"/>
            <a:ext cx="2011680" cy="2011680"/>
          </a:xfrm>
          <a:prstGeom prst="ellipse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53144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— Healthy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153144" y="4709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Daun hijau sehat tanpa gejala penyakit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9153144" y="5577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foto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Eksperimen: 4 Skenario, 2 Faktor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F2F4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53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acak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augmentasi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23360" y="11887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F2F4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51960" y="1353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965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acak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augmentasi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F2F4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02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ImageNet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augmentasi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023360" y="333756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51960" y="3502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41148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ImageNet</a:t>
            </a:r>
            <a:endParaRPr lang="en-US" sz="13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augmentasi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Dibuat Identik di Semua Skenario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19872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MobileNetV2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2267712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19872" y="2130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&amp; seed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2798064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19872" y="26609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(Adam) &amp; learning 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3328416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9872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(Early Stopping + ReduceLROnPlateau)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9560" y="4069080"/>
            <a:ext cx="3749040" cy="1737360"/>
          </a:xfrm>
          <a:prstGeom prst="roundRect">
            <a:avLst>
              <a:gd name="adj" fmla="val 5263"/>
            </a:avLst>
          </a:prstGeom>
          <a:solidFill>
            <a:srgbClr val="97BC62">
              <a:alpha val="3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38160" y="42519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Pasangan skenario bertetangga hanya berbeda satu faktor, sehingga efek augmentasi dan efek pretraining dapat dipisahkan secara independen.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Metodologi: Arsitektur &amp;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97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dipilih sebagai arsitektur tunggal karena ringan secara komputasi (menggunakan depthwise separable convolution) namun tetap akurat — cocok untuk eksperimen dengan dataset kecil dan sumber daya terbatas.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2F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Citra Daun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76856" y="2880360"/>
            <a:ext cx="182880" cy="18288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496312" y="237744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2F4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96312" y="23774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33088" y="2880360"/>
            <a:ext cx="182880" cy="18288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237744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2F4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52544" y="23774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Augmentasi*)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2880360"/>
            <a:ext cx="182880" cy="18288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208776" y="237744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8776" y="23774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45552" y="2880360"/>
            <a:ext cx="182880" cy="18288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8065008" y="237744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2F4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65008" y="23774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kelas)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01784" y="2880360"/>
            <a:ext cx="182880" cy="182880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9921240" y="237744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F2F4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21240" y="23774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Penyakit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*Augmentasi hanya diterapkan pada skenario S2 dan S4, dan hanya pada subset data training (tidak pada validasi/test).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452628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2F4F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Augmentasi (S2, S4)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074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 •  Random Rotation (±15°)  •  Color Jitter (brightness, contrast)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52628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2F4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Bobot Awal Model (S1–S4)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074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Random: inisialisasi bobot acak (dari nol)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Pretrained: bobot awal dari ImageNet, di-fine-tune penuh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Eksperimen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berikut dibuat identik di keempat skenario agar perbandingan adil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0200"/>
          <a:ext cx="10607040" cy="42976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/ Pengaturan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train / 15% validasi / 15%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(split &amp; inisialisasi training)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Ukuran citra 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x 224 piksel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awal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(0.0001)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Maksimum epoch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 (patience=5) + ReduceLROnPlateau (patience=2, factor=0.5)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Entropy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Hasil: Tabel Perbandingan 4 Skenario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0698480" cy="2514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Konfigurasi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Random, Tanpa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Random, Dengan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Pretrained, Tanpa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A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Pretrained, Dengan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A4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C62">
                        <a:alpha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93192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utama: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dengan bobot pretrained (S3, S4) mencapai akurasi sempurna 100%, jauh di atas skenario bobot random (S1: 78.3%, S2: 81.7%) — menunjukkan kuatnya transfer learning untuk dataset terbatas.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983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akurasi 100% telah diverifikasi bukan akibat data leakage — diperiksa lewat hash kemiripan citra antar subset train/test, dan hanya skenario pretrained yang mencapai nilai ini (bukan seluruh skenario, yang mengindikasikan hasil valid, bukan kebocoran data).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Perbandingan Antar Skenario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3949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126480" y="1188720"/>
          <a:ext cx="53949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Kurva Training vs Validation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dan validation accuracy per epoch, keempat skenario (hasil aktual)</a:t>
            </a:r>
            <a:endParaRPr lang="en-US" sz="1250" dirty="0"/>
          </a:p>
        </p:txBody>
      </p:sp>
      <p:pic>
        <p:nvPicPr>
          <p:cNvPr id="5" name="Image 0" descr="/home/claude/ppt/assets/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10789920" cy="3849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&amp; S4 (pretrained) 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konvergen sangat cepat (±3-5 epoch) dengan loss mendekati 0, sementara </a:t>
            </a:r>
            <a:r>
              <a:rPr lang="en-US" sz="1250" b="1" dirty="0">
                <a:solidFill>
                  <a:srgbClr val="A4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&amp; S2 (random) 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 lebih banyak epoch dan tetap memiliki loss lebih tinggi.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4 Skenario</a:t>
            </a:r>
            <a:endParaRPr lang="en-US" sz="2600" dirty="0"/>
          </a:p>
        </p:txBody>
      </p:sp>
      <p:pic>
        <p:nvPicPr>
          <p:cNvPr id="4" name="Image 0" descr="/home/claude/ppt/assets/confusion_matrix.png"/>
          <p:cNvPicPr>
            <a:picLocks noChangeAspect="1"/>
          </p:cNvPicPr>
          <p:nvPr/>
        </p:nvPicPr>
        <p:blipFill rotWithShape="1">
          <a:blip r:embed="rId3"/>
          <a:srcRect r="371" b="50339"/>
          <a:stretch/>
        </p:blipFill>
        <p:spPr>
          <a:xfrm>
            <a:off x="685800" y="731519"/>
            <a:ext cx="10003536" cy="42213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4 Skenario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B18C8-2E06-46EF-AD82-3B556666E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78" y="932895"/>
            <a:ext cx="10351698" cy="436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76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Efek Tiap Faktor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05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pasangan skenario bertetangga hanya berbeda satu faktor, efek augmentasi dan efek pretraining dapat dipisahkan secara langsung.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2F4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 Augmentasi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bobot RANDOM: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33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(78.3%)  →  S2 (81.7%)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 poin persentase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bobot PRETRAINED: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(100%)  →  S4 (100%)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perubahan (sudah saturasi)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091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augmentasi membantu ketika model belajar dari nol, tapi efeknya tidak terlihat ketika model sudah mencapai akurasi sempurna lewat pretraining.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 Bobot Pretrained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augmentasi: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33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(78.3%)  →  S3 (100%)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+21.7 poin persentase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520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augmentasi: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(81.7%)  →  S4 (100%)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+18.3 poin persentase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7091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bobot pretrained ImageNet adalah faktor paling berpengaruh — jauh lebih signifikan dibanding augmentasi untuk kasus dataset ini.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657600" cy="3657600"/>
          </a:xfrm>
          <a:prstGeom prst="ellipse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320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 &amp; Rekomendasi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47472" cy="3474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06984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pretrained ImageNet terbukti menjadi faktor paling menentukan, meningkatkan akurasi hingga 100% pada kedua skenario (S3, S4) — jauh mengungguli bobot random (S1, S2).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7472" cy="3474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2996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Augmentasi data memberikan peningkatan performa yang berarti pada model dengan bobot random (+3.3pp), namun pengaruhnya tidak terlihat ketika model sudah mencapai performa sempurna lewat pretraining.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347472" cy="34747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9008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dan S4 sama-sama mencapai akurasi 100%, namun S3 (Pretrained, Tanpa Augmentasi) lebih efisien — konvergen dalam 14 epoch (45.8 detik), dibanding S4 yang butuh 27 epoch (101.5 detik).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S3 (Pretrained, Tanpa Augmentasi)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direkomendasikan sebagai pilihan terbaik — mencapai akurasi sempurna dengan waktu komputasi paling efisien di antara skenario berkinerja terbaik.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12801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 &amp; Pengembangan Lanjutan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4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 Penelitian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746504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600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berasal dari kondisi laboratorium terkontrol (background &amp; pencahayaan seragam), bukan foto lapangan asli — performa di dunia nyata berpotensi lebih rendah.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980944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data relatif kecil (200 foto/kelas) dan evaluasi hanya dilakukan dengan satu kali split data (single train/test split).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15384"/>
            <a:ext cx="82296" cy="82296"/>
          </a:xfrm>
          <a:prstGeom prst="ellipse">
            <a:avLst/>
          </a:prstGeom>
          <a:solidFill>
            <a:srgbClr val="A430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4069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100% meski telah diverifikasi bukan karena data leakage, tetap perlu divalidasi lebih lanjut pada dataset yang lebih besar dan beragam.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234440"/>
            <a:ext cx="0" cy="475488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 Pengembangan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746504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65392" y="16002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dengan k-fold cross-validation untuk memastikan hasil konsisten di berbagai pembagian data, bukan hanya satu kali split.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980944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65392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 model dengan foto daun hasil pemotretan lapangan langsung (bukan dataset lab) untuk menguji generalisasi.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215384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65392" y="4069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arsitektur pretrained lain (EfficientNet, ResNet) sebagai pembanding tambahan terhadap MobileNetV2.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035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Deep Learning — Klasifikasi Citra Penyakit Daun Anggur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E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· 4 Skenario Eksperimen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1371</Words>
  <Application>Microsoft Office PowerPoint</Application>
  <PresentationFormat>Widescreen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 Fadil</cp:lastModifiedBy>
  <cp:revision>4</cp:revision>
  <dcterms:created xsi:type="dcterms:W3CDTF">2026-10-04T12:43:58Z</dcterms:created>
  <dcterms:modified xsi:type="dcterms:W3CDTF">2026-10-04T13:05:26Z</dcterms:modified>
</cp:coreProperties>
</file>